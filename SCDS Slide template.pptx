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70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4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 Pratt" userId="c2433739-86b6-427e-9f73-fea160e85c51" providerId="ADAL" clId="{E6296015-A85C-45E8-9790-18D5B5FDD172}"/>
    <pc:docChg chg="undo custSel addSld modSld">
      <pc:chgData name="Isaac  Pratt" userId="c2433739-86b6-427e-9f73-fea160e85c51" providerId="ADAL" clId="{E6296015-A85C-45E8-9790-18D5B5FDD172}" dt="2026-03-10T15:14:47.624" v="12" actId="20577"/>
      <pc:docMkLst>
        <pc:docMk/>
      </pc:docMkLst>
      <pc:sldChg chg="addSp delSp mod">
        <pc:chgData name="Isaac  Pratt" userId="c2433739-86b6-427e-9f73-fea160e85c51" providerId="ADAL" clId="{E6296015-A85C-45E8-9790-18D5B5FDD172}" dt="2026-03-10T15:12:14.181" v="3" actId="478"/>
        <pc:sldMkLst>
          <pc:docMk/>
          <pc:sldMk cId="2965404950" sldId="700"/>
        </pc:sldMkLst>
        <pc:spChg chg="add del">
          <ac:chgData name="Isaac  Pratt" userId="c2433739-86b6-427e-9f73-fea160e85c51" providerId="ADAL" clId="{E6296015-A85C-45E8-9790-18D5B5FDD172}" dt="2026-03-10T15:12:14.181" v="3" actId="478"/>
          <ac:spMkLst>
            <pc:docMk/>
            <pc:sldMk cId="2965404950" sldId="700"/>
            <ac:spMk id="6" creationId="{2621E092-6CC6-9E65-33BD-DDDFD1277F3B}"/>
          </ac:spMkLst>
        </pc:spChg>
      </pc:sldChg>
      <pc:sldChg chg="delSp modSp add mod">
        <pc:chgData name="Isaac  Pratt" userId="c2433739-86b6-427e-9f73-fea160e85c51" providerId="ADAL" clId="{E6296015-A85C-45E8-9790-18D5B5FDD172}" dt="2026-03-10T15:14:47.624" v="12" actId="20577"/>
        <pc:sldMkLst>
          <pc:docMk/>
          <pc:sldMk cId="1013729392" sldId="701"/>
        </pc:sldMkLst>
        <pc:spChg chg="mod">
          <ac:chgData name="Isaac  Pratt" userId="c2433739-86b6-427e-9f73-fea160e85c51" providerId="ADAL" clId="{E6296015-A85C-45E8-9790-18D5B5FDD172}" dt="2026-03-10T15:14:35.081" v="11" actId="1076"/>
          <ac:spMkLst>
            <pc:docMk/>
            <pc:sldMk cId="1013729392" sldId="701"/>
            <ac:spMk id="3" creationId="{5CB1EC01-9EC4-1CDD-9DFE-49DF67FA860C}"/>
          </ac:spMkLst>
        </pc:spChg>
        <pc:spChg chg="del">
          <ac:chgData name="Isaac  Pratt" userId="c2433739-86b6-427e-9f73-fea160e85c51" providerId="ADAL" clId="{E6296015-A85C-45E8-9790-18D5B5FDD172}" dt="2026-03-10T15:12:11.314" v="2" actId="478"/>
          <ac:spMkLst>
            <pc:docMk/>
            <pc:sldMk cId="1013729392" sldId="701"/>
            <ac:spMk id="6" creationId="{FB573957-6AA8-839D-940C-F9E55CB7526C}"/>
          </ac:spMkLst>
        </pc:spChg>
        <pc:spChg chg="mod">
          <ac:chgData name="Isaac  Pratt" userId="c2433739-86b6-427e-9f73-fea160e85c51" providerId="ADAL" clId="{E6296015-A85C-45E8-9790-18D5B5FDD172}" dt="2026-03-10T15:13:54.540" v="5" actId="20577"/>
          <ac:spMkLst>
            <pc:docMk/>
            <pc:sldMk cId="1013729392" sldId="701"/>
            <ac:spMk id="25" creationId="{82D2DBD9-E3FE-1E7F-637B-691A78D9659F}"/>
          </ac:spMkLst>
        </pc:spChg>
        <pc:spChg chg="mod">
          <ac:chgData name="Isaac  Pratt" userId="c2433739-86b6-427e-9f73-fea160e85c51" providerId="ADAL" clId="{E6296015-A85C-45E8-9790-18D5B5FDD172}" dt="2026-03-10T15:14:19.561" v="8" actId="20577"/>
          <ac:spMkLst>
            <pc:docMk/>
            <pc:sldMk cId="1013729392" sldId="701"/>
            <ac:spMk id="26" creationId="{03E8453B-AE49-0255-8092-48D1DB716374}"/>
          </ac:spMkLst>
        </pc:spChg>
        <pc:spChg chg="mod">
          <ac:chgData name="Isaac  Pratt" userId="c2433739-86b6-427e-9f73-fea160e85c51" providerId="ADAL" clId="{E6296015-A85C-45E8-9790-18D5B5FDD172}" dt="2026-03-10T15:13:59.561" v="6" actId="20577"/>
          <ac:spMkLst>
            <pc:docMk/>
            <pc:sldMk cId="1013729392" sldId="701"/>
            <ac:spMk id="27" creationId="{17B6E518-6780-5F30-B8FF-AD36DC3EC8F9}"/>
          </ac:spMkLst>
        </pc:spChg>
        <pc:spChg chg="mod">
          <ac:chgData name="Isaac  Pratt" userId="c2433739-86b6-427e-9f73-fea160e85c51" providerId="ADAL" clId="{E6296015-A85C-45E8-9790-18D5B5FDD172}" dt="2026-03-10T15:14:47.624" v="12" actId="20577"/>
          <ac:spMkLst>
            <pc:docMk/>
            <pc:sldMk cId="1013729392" sldId="701"/>
            <ac:spMk id="28" creationId="{C57C0E5E-8C25-54AE-01B5-128D8CACA67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4A2B85-D722-4673-8314-E6AD4D0580D4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76C5F-1757-44D8-A6E5-6886395A16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6339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4BA84-E28E-D228-DD5F-FF0032663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F75C8-2D7A-C43E-C832-09FB2D72E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8FB64-6750-14F2-A91B-CE3E7CCBF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9E1AA-7C5E-DB0B-5B54-3800EA49B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C5D8B6-300B-41BE-9638-5EFABBCA6E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67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6B151-B437-59B9-D74D-B53A50E50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2BDBDB-B794-D7F5-D0B7-CA5D7B002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B9198-6E44-2C18-68E8-676D25CFA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FF063-12EB-25E7-69F0-6477E6347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2E175-5355-533D-5690-3D74C9A1C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3136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344A1-73DC-1BF0-4A26-12EDC08C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81345-BD6D-77D2-9077-ED65C7905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FC2C6-C26D-3FA9-6AB8-64203EE1A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6A0E9-2C53-65BB-85CC-CF4F96659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E454B-1E93-658D-B946-B679C297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5922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623F5-F3D8-A78B-7322-4A2BE60FF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3045A-BE4B-5CD3-2571-229EBC7E9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A5529-F92A-03FA-46BD-6A1F4CE7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90BB4-EA23-32A2-7954-8742FA81B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94AFE-1A69-1A28-2B78-DA3236D5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2166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66B1-9ED7-2CCE-9653-DD551660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B8E9E-6284-B92A-45CB-CF802D7E35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9085A7-FC71-8D27-159F-B4AA2616B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6A987-9AB1-72C9-553F-257E3A0E5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74B95-3096-8627-6417-E94F81501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F2772-AD93-12C4-102D-847EEA94E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2091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C6829-7B0A-319F-ECFB-3C48B4C4E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E32F9-C6D9-809D-53AF-C821BB03A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408E1-8FA3-5155-143B-771FBE894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DEEDA-3214-71F2-5FA2-6C59FD8D21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EEAA7E-5558-6F7D-EC04-E376B8543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C4F432-7658-A10A-5F73-9EDBD7121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70BEBE-4CC7-C4CE-7C52-D99AB7242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F2E846-BECA-7217-813D-DB6B1A5C9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1414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1BE4E-A736-99D5-235C-EBBA7DD40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8FC45E-0755-C4E8-4035-1EDC26CD1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628AB-E7CE-125F-F0DC-C4E180D39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2B54B-BCBF-0E41-724F-ADCCC9709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5356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9331B-596B-A6CD-CD3F-5919A5AF8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2297E-3CC6-A2EA-6C00-D7EBE76FC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14540-5384-36E5-8A96-04B5D90BE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2886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A9020-3861-11B6-6051-DF0C9EE8A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0FEED-ABAC-142B-E320-60979E78F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85501-2BF8-13F9-BEAE-0264DE415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3FAFE-A64A-5ACF-1905-AF7C8B7E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197F0-A7A5-2070-1C41-5A5C1277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5C80F-79EB-1E69-C261-5BB8A2311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6882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AFBE2-EF5B-7401-690B-C99F91F74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4AC15F-8176-9D40-5F99-EA1D3E6CE2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DF430-4563-0543-9ED6-45320D31A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188E2-8419-2EF3-C83E-03F45D769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6AF45-C452-8349-FF63-829383664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82CAC-F144-99B0-BC94-7EC52142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2449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9D3D9-B2DA-2DB6-4761-E0582A0A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24035-B1D9-EA32-2DA0-6C2C45B19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948D6-B62B-9E52-F270-E0D6CE0A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281DB-DE6A-7300-CA3B-E5F60E21C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2FDA5-3A41-4F9B-88EE-94E6F0CD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4191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CF9D81-BED9-2E84-72E9-78219E0B4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905DA5-DA40-7A57-A446-BAAA7C285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97530-A6DE-A6DE-2CF3-3F798C724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F63DD-E02C-E873-CB74-3B7299EAC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F9464-A0F3-9DCF-BEB4-A1A983431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7408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C5610A-16DD-80E2-16B3-71E8EDC8D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E6208-10AE-D41B-DDB4-A7AB00D0E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9AEF5-EC05-D2A6-67D3-65C10512F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3B3C8-25F1-4201-B40C-5812AD79D5C6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5D0E7-6514-27E6-E0B7-A8CFE3424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9A27C-B160-7A1C-8A0D-AA3ECDA697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5718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.mcmaster.ca/scds-workshop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AD583-36E8-0234-3240-5D1FF4D0D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C8F243-9B99-613B-3146-056CBF21E2DB}"/>
              </a:ext>
            </a:extLst>
          </p:cNvPr>
          <p:cNvSpPr>
            <a:spLocks/>
          </p:cNvSpPr>
          <p:nvPr/>
        </p:nvSpPr>
        <p:spPr>
          <a:xfrm>
            <a:off x="647999" y="3168000"/>
            <a:ext cx="5400000" cy="2700000"/>
          </a:xfrm>
          <a:prstGeom prst="rect">
            <a:avLst/>
          </a:prstGeom>
          <a:solidFill>
            <a:srgbClr val="E3E86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E14931D6-1CB0-AB67-6E72-1D7A735E8964}"/>
              </a:ext>
            </a:extLst>
          </p:cNvPr>
          <p:cNvSpPr>
            <a:spLocks noGrp="1"/>
          </p:cNvSpPr>
          <p:nvPr/>
        </p:nvSpPr>
        <p:spPr>
          <a:xfrm>
            <a:off x="1181330" y="494538"/>
            <a:ext cx="10282395" cy="449464"/>
          </a:xfrm>
          <a:prstGeom prst="rect">
            <a:avLst/>
          </a:prstGeom>
        </p:spPr>
        <p:txBody>
          <a:bodyPr/>
          <a:lstStyle>
            <a:lvl1pPr algn="l" defTabSz="152384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52384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Winter 2026: Upcoming Workshops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2F2483-106A-93FB-D0CD-781634E174A2}"/>
              </a:ext>
            </a:extLst>
          </p:cNvPr>
          <p:cNvSpPr>
            <a:spLocks/>
          </p:cNvSpPr>
          <p:nvPr/>
        </p:nvSpPr>
        <p:spPr>
          <a:xfrm>
            <a:off x="648000" y="1008000"/>
            <a:ext cx="5400000" cy="21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94EA85E6-CE30-295E-C6FB-15A7716537A2}"/>
              </a:ext>
            </a:extLst>
          </p:cNvPr>
          <p:cNvSpPr>
            <a:spLocks noGrp="1"/>
          </p:cNvSpPr>
          <p:nvPr/>
        </p:nvSpPr>
        <p:spPr>
          <a:xfrm>
            <a:off x="685802" y="6044052"/>
            <a:ext cx="7154916" cy="56477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152384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52384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700" b="0" i="0" u="none" strike="noStrike" kern="1200" cap="none" spc="0" normalizeH="0" baseline="0" noProof="0">
                <a:ln>
                  <a:noFill/>
                </a:ln>
                <a:solidFill>
                  <a:srgbClr val="0F0F0F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Register for Upcoming Workshops: </a:t>
            </a:r>
            <a:r>
              <a:rPr kumimoji="0" lang="en-CA" sz="1700" b="0" i="0" u="none" strike="noStrike" kern="1200" cap="none" spc="0" normalizeH="0" baseline="0" noProof="0">
                <a:ln>
                  <a:noFill/>
                </a:ln>
                <a:solidFill>
                  <a:srgbClr val="0F0F0F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j-lt"/>
                <a:cs typeface="Arial" panose="020B0604020202020204"/>
                <a:hlinkClick r:id="rId3"/>
              </a:rPr>
              <a:t>https://u.mcmaster.ca/scds-workshops</a:t>
            </a:r>
            <a:endParaRPr kumimoji="0" lang="en-CA" sz="1700" b="0" i="0" u="none" strike="noStrike" kern="1200" cap="none" spc="0" normalizeH="0" baseline="0" noProof="0">
              <a:ln>
                <a:noFill/>
              </a:ln>
              <a:solidFill>
                <a:srgbClr val="0F0F0F">
                  <a:lumMod val="75000"/>
                  <a:lumOff val="2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j-lt"/>
              <a:cs typeface="Arial" panose="020B0604020202020204"/>
            </a:endParaRPr>
          </a:p>
        </p:txBody>
      </p:sp>
      <p:grpSp>
        <p:nvGrpSpPr>
          <p:cNvPr id="9" name="Group 8" descr="An icon of a calendar.">
            <a:extLst>
              <a:ext uri="{FF2B5EF4-FFF2-40B4-BE49-F238E27FC236}">
                <a16:creationId xmlns:a16="http://schemas.microsoft.com/office/drawing/2014/main" id="{68B5AD8C-DCA3-111B-704B-7DB5147105CA}"/>
              </a:ext>
            </a:extLst>
          </p:cNvPr>
          <p:cNvGrpSpPr/>
          <p:nvPr/>
        </p:nvGrpSpPr>
        <p:grpSpPr>
          <a:xfrm>
            <a:off x="805912" y="476561"/>
            <a:ext cx="375418" cy="403845"/>
            <a:chOff x="6297464" y="7399269"/>
            <a:chExt cx="786730" cy="941993"/>
          </a:xfrm>
          <a:solidFill>
            <a:schemeClr val="tx1"/>
          </a:solidFill>
        </p:grpSpPr>
        <p:sp>
          <p:nvSpPr>
            <p:cNvPr id="10" name="Freeform 256">
              <a:extLst>
                <a:ext uri="{FF2B5EF4-FFF2-40B4-BE49-F238E27FC236}">
                  <a16:creationId xmlns:a16="http://schemas.microsoft.com/office/drawing/2014/main" id="{A9BD8DB8-5D73-5D8C-5001-C33F7CC50583}"/>
                </a:ext>
              </a:extLst>
            </p:cNvPr>
            <p:cNvSpPr/>
            <p:nvPr/>
          </p:nvSpPr>
          <p:spPr>
            <a:xfrm>
              <a:off x="6297464" y="7399269"/>
              <a:ext cx="786730" cy="941993"/>
            </a:xfrm>
            <a:custGeom>
              <a:avLst/>
              <a:gdLst>
                <a:gd name="connsiteX0" fmla="*/ 579397 w 786730"/>
                <a:gd name="connsiteY0" fmla="*/ 113607 h 941993"/>
                <a:gd name="connsiteX1" fmla="*/ 579397 w 786730"/>
                <a:gd name="connsiteY1" fmla="*/ 21775 h 941993"/>
                <a:gd name="connsiteX2" fmla="*/ 557622 w 786730"/>
                <a:gd name="connsiteY2" fmla="*/ 0 h 941993"/>
                <a:gd name="connsiteX3" fmla="*/ 535848 w 786730"/>
                <a:gd name="connsiteY3" fmla="*/ 21775 h 941993"/>
                <a:gd name="connsiteX4" fmla="*/ 535848 w 786730"/>
                <a:gd name="connsiteY4" fmla="*/ 113607 h 941993"/>
                <a:gd name="connsiteX5" fmla="*/ 253723 w 786730"/>
                <a:gd name="connsiteY5" fmla="*/ 113607 h 941993"/>
                <a:gd name="connsiteX6" fmla="*/ 253723 w 786730"/>
                <a:gd name="connsiteY6" fmla="*/ 21775 h 941993"/>
                <a:gd name="connsiteX7" fmla="*/ 231948 w 786730"/>
                <a:gd name="connsiteY7" fmla="*/ 0 h 941993"/>
                <a:gd name="connsiteX8" fmla="*/ 210173 w 786730"/>
                <a:gd name="connsiteY8" fmla="*/ 21775 h 941993"/>
                <a:gd name="connsiteX9" fmla="*/ 210173 w 786730"/>
                <a:gd name="connsiteY9" fmla="*/ 113607 h 941993"/>
                <a:gd name="connsiteX10" fmla="*/ 0 w 786730"/>
                <a:gd name="connsiteY10" fmla="*/ 113607 h 941993"/>
                <a:gd name="connsiteX11" fmla="*/ 0 w 786730"/>
                <a:gd name="connsiteY11" fmla="*/ 390998 h 941993"/>
                <a:gd name="connsiteX12" fmla="*/ 0 w 786730"/>
                <a:gd name="connsiteY12" fmla="*/ 941994 h 941993"/>
                <a:gd name="connsiteX13" fmla="*/ 786730 w 786730"/>
                <a:gd name="connsiteY13" fmla="*/ 941994 h 941993"/>
                <a:gd name="connsiteX14" fmla="*/ 786730 w 786730"/>
                <a:gd name="connsiteY14" fmla="*/ 390998 h 941993"/>
                <a:gd name="connsiteX15" fmla="*/ 786730 w 786730"/>
                <a:gd name="connsiteY15" fmla="*/ 113607 h 941993"/>
                <a:gd name="connsiteX16" fmla="*/ 579397 w 786730"/>
                <a:gd name="connsiteY16" fmla="*/ 113607 h 941993"/>
                <a:gd name="connsiteX17" fmla="*/ 43549 w 786730"/>
                <a:gd name="connsiteY17" fmla="*/ 157157 h 941993"/>
                <a:gd name="connsiteX18" fmla="*/ 209227 w 786730"/>
                <a:gd name="connsiteY18" fmla="*/ 157157 h 941993"/>
                <a:gd name="connsiteX19" fmla="*/ 209227 w 786730"/>
                <a:gd name="connsiteY19" fmla="*/ 236682 h 941993"/>
                <a:gd name="connsiteX20" fmla="*/ 231001 w 786730"/>
                <a:gd name="connsiteY20" fmla="*/ 258457 h 941993"/>
                <a:gd name="connsiteX21" fmla="*/ 252776 w 786730"/>
                <a:gd name="connsiteY21" fmla="*/ 236682 h 941993"/>
                <a:gd name="connsiteX22" fmla="*/ 252776 w 786730"/>
                <a:gd name="connsiteY22" fmla="*/ 157157 h 941993"/>
                <a:gd name="connsiteX23" fmla="*/ 534901 w 786730"/>
                <a:gd name="connsiteY23" fmla="*/ 157157 h 941993"/>
                <a:gd name="connsiteX24" fmla="*/ 534901 w 786730"/>
                <a:gd name="connsiteY24" fmla="*/ 236682 h 941993"/>
                <a:gd name="connsiteX25" fmla="*/ 556676 w 786730"/>
                <a:gd name="connsiteY25" fmla="*/ 258457 h 941993"/>
                <a:gd name="connsiteX26" fmla="*/ 578450 w 786730"/>
                <a:gd name="connsiteY26" fmla="*/ 236682 h 941993"/>
                <a:gd name="connsiteX27" fmla="*/ 578450 w 786730"/>
                <a:gd name="connsiteY27" fmla="*/ 157157 h 941993"/>
                <a:gd name="connsiteX28" fmla="*/ 741287 w 786730"/>
                <a:gd name="connsiteY28" fmla="*/ 157157 h 941993"/>
                <a:gd name="connsiteX29" fmla="*/ 741287 w 786730"/>
                <a:gd name="connsiteY29" fmla="*/ 346502 h 941993"/>
                <a:gd name="connsiteX30" fmla="*/ 43549 w 786730"/>
                <a:gd name="connsiteY30" fmla="*/ 346502 h 941993"/>
                <a:gd name="connsiteX31" fmla="*/ 43549 w 786730"/>
                <a:gd name="connsiteY31" fmla="*/ 157157 h 941993"/>
                <a:gd name="connsiteX32" fmla="*/ 742234 w 786730"/>
                <a:gd name="connsiteY32" fmla="*/ 897497 h 941993"/>
                <a:gd name="connsiteX33" fmla="*/ 43549 w 786730"/>
                <a:gd name="connsiteY33" fmla="*/ 897497 h 941993"/>
                <a:gd name="connsiteX34" fmla="*/ 43549 w 786730"/>
                <a:gd name="connsiteY34" fmla="*/ 390998 h 941993"/>
                <a:gd name="connsiteX35" fmla="*/ 742234 w 786730"/>
                <a:gd name="connsiteY35" fmla="*/ 390998 h 941993"/>
                <a:gd name="connsiteX36" fmla="*/ 742234 w 786730"/>
                <a:gd name="connsiteY36" fmla="*/ 897497 h 941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86730" h="941993">
                  <a:moveTo>
                    <a:pt x="579397" y="113607"/>
                  </a:moveTo>
                  <a:lnTo>
                    <a:pt x="579397" y="21775"/>
                  </a:lnTo>
                  <a:cubicBezTo>
                    <a:pt x="579397" y="9467"/>
                    <a:pt x="569930" y="0"/>
                    <a:pt x="557622" y="0"/>
                  </a:cubicBezTo>
                  <a:cubicBezTo>
                    <a:pt x="545315" y="0"/>
                    <a:pt x="535848" y="9467"/>
                    <a:pt x="535848" y="21775"/>
                  </a:cubicBezTo>
                  <a:lnTo>
                    <a:pt x="535848" y="113607"/>
                  </a:lnTo>
                  <a:lnTo>
                    <a:pt x="253723" y="113607"/>
                  </a:lnTo>
                  <a:lnTo>
                    <a:pt x="253723" y="21775"/>
                  </a:lnTo>
                  <a:cubicBezTo>
                    <a:pt x="253723" y="9467"/>
                    <a:pt x="244256" y="0"/>
                    <a:pt x="231948" y="0"/>
                  </a:cubicBezTo>
                  <a:cubicBezTo>
                    <a:pt x="219641" y="0"/>
                    <a:pt x="210173" y="9467"/>
                    <a:pt x="210173" y="21775"/>
                  </a:cubicBezTo>
                  <a:lnTo>
                    <a:pt x="210173" y="113607"/>
                  </a:lnTo>
                  <a:lnTo>
                    <a:pt x="0" y="113607"/>
                  </a:lnTo>
                  <a:lnTo>
                    <a:pt x="0" y="390998"/>
                  </a:lnTo>
                  <a:lnTo>
                    <a:pt x="0" y="941994"/>
                  </a:lnTo>
                  <a:lnTo>
                    <a:pt x="786730" y="941994"/>
                  </a:lnTo>
                  <a:lnTo>
                    <a:pt x="786730" y="390998"/>
                  </a:lnTo>
                  <a:lnTo>
                    <a:pt x="786730" y="113607"/>
                  </a:lnTo>
                  <a:lnTo>
                    <a:pt x="579397" y="113607"/>
                  </a:lnTo>
                  <a:close/>
                  <a:moveTo>
                    <a:pt x="43549" y="157157"/>
                  </a:moveTo>
                  <a:lnTo>
                    <a:pt x="209227" y="157157"/>
                  </a:lnTo>
                  <a:lnTo>
                    <a:pt x="209227" y="236682"/>
                  </a:lnTo>
                  <a:cubicBezTo>
                    <a:pt x="209227" y="248989"/>
                    <a:pt x="218694" y="258457"/>
                    <a:pt x="231001" y="258457"/>
                  </a:cubicBezTo>
                  <a:cubicBezTo>
                    <a:pt x="243309" y="258457"/>
                    <a:pt x="252776" y="248989"/>
                    <a:pt x="252776" y="236682"/>
                  </a:cubicBezTo>
                  <a:lnTo>
                    <a:pt x="252776" y="157157"/>
                  </a:lnTo>
                  <a:lnTo>
                    <a:pt x="534901" y="157157"/>
                  </a:lnTo>
                  <a:lnTo>
                    <a:pt x="534901" y="236682"/>
                  </a:lnTo>
                  <a:cubicBezTo>
                    <a:pt x="534901" y="248989"/>
                    <a:pt x="544368" y="258457"/>
                    <a:pt x="556676" y="258457"/>
                  </a:cubicBezTo>
                  <a:cubicBezTo>
                    <a:pt x="568983" y="258457"/>
                    <a:pt x="578450" y="248989"/>
                    <a:pt x="578450" y="236682"/>
                  </a:cubicBezTo>
                  <a:lnTo>
                    <a:pt x="578450" y="157157"/>
                  </a:lnTo>
                  <a:lnTo>
                    <a:pt x="741287" y="157157"/>
                  </a:lnTo>
                  <a:lnTo>
                    <a:pt x="741287" y="346502"/>
                  </a:lnTo>
                  <a:lnTo>
                    <a:pt x="43549" y="346502"/>
                  </a:lnTo>
                  <a:lnTo>
                    <a:pt x="43549" y="157157"/>
                  </a:lnTo>
                  <a:close/>
                  <a:moveTo>
                    <a:pt x="742234" y="897497"/>
                  </a:moveTo>
                  <a:lnTo>
                    <a:pt x="43549" y="897497"/>
                  </a:lnTo>
                  <a:lnTo>
                    <a:pt x="43549" y="390998"/>
                  </a:lnTo>
                  <a:lnTo>
                    <a:pt x="742234" y="390998"/>
                  </a:lnTo>
                  <a:lnTo>
                    <a:pt x="742234" y="897497"/>
                  </a:lnTo>
                  <a:close/>
                </a:path>
              </a:pathLst>
            </a:custGeom>
            <a:grpFill/>
            <a:ln w="943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0BE541F-7DD5-DDAE-3B86-3F3D819DFD08}"/>
                </a:ext>
              </a:extLst>
            </p:cNvPr>
            <p:cNvGrpSpPr/>
            <p:nvPr/>
          </p:nvGrpSpPr>
          <p:grpSpPr>
            <a:xfrm>
              <a:off x="6439473" y="7882100"/>
              <a:ext cx="498925" cy="289698"/>
              <a:chOff x="6439473" y="7882100"/>
              <a:chExt cx="498925" cy="289698"/>
            </a:xfrm>
            <a:grpFill/>
          </p:grpSpPr>
          <p:sp>
            <p:nvSpPr>
              <p:cNvPr id="16" name="Freeform 257">
                <a:extLst>
                  <a:ext uri="{FF2B5EF4-FFF2-40B4-BE49-F238E27FC236}">
                    <a16:creationId xmlns:a16="http://schemas.microsoft.com/office/drawing/2014/main" id="{6EBEA2C9-DB38-7196-6986-4073DCB25A58}"/>
                  </a:ext>
                </a:extLst>
              </p:cNvPr>
              <p:cNvSpPr/>
              <p:nvPr/>
            </p:nvSpPr>
            <p:spPr>
              <a:xfrm>
                <a:off x="6439473" y="7882100"/>
                <a:ext cx="88992" cy="88992"/>
              </a:xfrm>
              <a:custGeom>
                <a:avLst/>
                <a:gdLst>
                  <a:gd name="connsiteX0" fmla="*/ 88992 w 88992"/>
                  <a:gd name="connsiteY0" fmla="*/ 44496 h 88992"/>
                  <a:gd name="connsiteX1" fmla="*/ 44496 w 88992"/>
                  <a:gd name="connsiteY1" fmla="*/ 88992 h 88992"/>
                  <a:gd name="connsiteX2" fmla="*/ 0 w 88992"/>
                  <a:gd name="connsiteY2" fmla="*/ 44496 h 88992"/>
                  <a:gd name="connsiteX3" fmla="*/ 44496 w 88992"/>
                  <a:gd name="connsiteY3" fmla="*/ 0 h 88992"/>
                  <a:gd name="connsiteX4" fmla="*/ 88992 w 88992"/>
                  <a:gd name="connsiteY4" fmla="*/ 44496 h 88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992" h="88992">
                    <a:moveTo>
                      <a:pt x="88992" y="44496"/>
                    </a:moveTo>
                    <a:cubicBezTo>
                      <a:pt x="88992" y="68164"/>
                      <a:pt x="68164" y="88992"/>
                      <a:pt x="44496" y="88992"/>
                    </a:cubicBezTo>
                    <a:cubicBezTo>
                      <a:pt x="20828" y="88992"/>
                      <a:pt x="0" y="68164"/>
                      <a:pt x="0" y="44496"/>
                    </a:cubicBezTo>
                    <a:cubicBezTo>
                      <a:pt x="0" y="20828"/>
                      <a:pt x="20828" y="0"/>
                      <a:pt x="44496" y="0"/>
                    </a:cubicBezTo>
                    <a:cubicBezTo>
                      <a:pt x="71005" y="0"/>
                      <a:pt x="88992" y="17988"/>
                      <a:pt x="88992" y="44496"/>
                    </a:cubicBezTo>
                  </a:path>
                </a:pathLst>
              </a:custGeom>
              <a:grpFill/>
              <a:ln w="9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" name="Freeform 258">
                <a:extLst>
                  <a:ext uri="{FF2B5EF4-FFF2-40B4-BE49-F238E27FC236}">
                    <a16:creationId xmlns:a16="http://schemas.microsoft.com/office/drawing/2014/main" id="{60615D92-8FA3-3660-8C1E-7B9C4EF3CB10}"/>
                  </a:ext>
                </a:extLst>
              </p:cNvPr>
              <p:cNvSpPr/>
              <p:nvPr/>
            </p:nvSpPr>
            <p:spPr>
              <a:xfrm>
                <a:off x="6849406" y="7882100"/>
                <a:ext cx="88992" cy="88992"/>
              </a:xfrm>
              <a:custGeom>
                <a:avLst/>
                <a:gdLst>
                  <a:gd name="connsiteX0" fmla="*/ 88992 w 88992"/>
                  <a:gd name="connsiteY0" fmla="*/ 44496 h 88992"/>
                  <a:gd name="connsiteX1" fmla="*/ 44496 w 88992"/>
                  <a:gd name="connsiteY1" fmla="*/ 88992 h 88992"/>
                  <a:gd name="connsiteX2" fmla="*/ 0 w 88992"/>
                  <a:gd name="connsiteY2" fmla="*/ 44496 h 88992"/>
                  <a:gd name="connsiteX3" fmla="*/ 44496 w 88992"/>
                  <a:gd name="connsiteY3" fmla="*/ 0 h 88992"/>
                  <a:gd name="connsiteX4" fmla="*/ 88992 w 88992"/>
                  <a:gd name="connsiteY4" fmla="*/ 44496 h 88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992" h="88992">
                    <a:moveTo>
                      <a:pt x="88992" y="44496"/>
                    </a:moveTo>
                    <a:cubicBezTo>
                      <a:pt x="88992" y="68164"/>
                      <a:pt x="68164" y="88992"/>
                      <a:pt x="44496" y="88992"/>
                    </a:cubicBezTo>
                    <a:cubicBezTo>
                      <a:pt x="20828" y="88992"/>
                      <a:pt x="0" y="68164"/>
                      <a:pt x="0" y="44496"/>
                    </a:cubicBezTo>
                    <a:cubicBezTo>
                      <a:pt x="0" y="20828"/>
                      <a:pt x="20828" y="0"/>
                      <a:pt x="44496" y="0"/>
                    </a:cubicBezTo>
                    <a:cubicBezTo>
                      <a:pt x="71005" y="0"/>
                      <a:pt x="88992" y="17988"/>
                      <a:pt x="88992" y="44496"/>
                    </a:cubicBezTo>
                  </a:path>
                </a:pathLst>
              </a:custGeom>
              <a:grpFill/>
              <a:ln w="9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8" name="Freeform 259">
                <a:extLst>
                  <a:ext uri="{FF2B5EF4-FFF2-40B4-BE49-F238E27FC236}">
                    <a16:creationId xmlns:a16="http://schemas.microsoft.com/office/drawing/2014/main" id="{CE29E216-7714-C216-6AFD-0B1BD0AE4B95}"/>
                  </a:ext>
                </a:extLst>
              </p:cNvPr>
              <p:cNvSpPr/>
              <p:nvPr/>
            </p:nvSpPr>
            <p:spPr>
              <a:xfrm>
                <a:off x="6645860" y="7882100"/>
                <a:ext cx="88992" cy="88992"/>
              </a:xfrm>
              <a:custGeom>
                <a:avLst/>
                <a:gdLst>
                  <a:gd name="connsiteX0" fmla="*/ 88992 w 88992"/>
                  <a:gd name="connsiteY0" fmla="*/ 44496 h 88992"/>
                  <a:gd name="connsiteX1" fmla="*/ 44496 w 88992"/>
                  <a:gd name="connsiteY1" fmla="*/ 88992 h 88992"/>
                  <a:gd name="connsiteX2" fmla="*/ 0 w 88992"/>
                  <a:gd name="connsiteY2" fmla="*/ 44496 h 88992"/>
                  <a:gd name="connsiteX3" fmla="*/ 44496 w 88992"/>
                  <a:gd name="connsiteY3" fmla="*/ 0 h 88992"/>
                  <a:gd name="connsiteX4" fmla="*/ 88992 w 88992"/>
                  <a:gd name="connsiteY4" fmla="*/ 44496 h 88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992" h="88992">
                    <a:moveTo>
                      <a:pt x="88992" y="44496"/>
                    </a:moveTo>
                    <a:cubicBezTo>
                      <a:pt x="88992" y="68164"/>
                      <a:pt x="68164" y="88992"/>
                      <a:pt x="44496" y="88992"/>
                    </a:cubicBezTo>
                    <a:cubicBezTo>
                      <a:pt x="20828" y="88992"/>
                      <a:pt x="0" y="68164"/>
                      <a:pt x="0" y="44496"/>
                    </a:cubicBezTo>
                    <a:cubicBezTo>
                      <a:pt x="0" y="20828"/>
                      <a:pt x="20828" y="0"/>
                      <a:pt x="44496" y="0"/>
                    </a:cubicBezTo>
                    <a:cubicBezTo>
                      <a:pt x="68164" y="0"/>
                      <a:pt x="88992" y="17988"/>
                      <a:pt x="88992" y="44496"/>
                    </a:cubicBezTo>
                  </a:path>
                </a:pathLst>
              </a:custGeom>
              <a:grpFill/>
              <a:ln w="9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Freeform 260">
                <a:extLst>
                  <a:ext uri="{FF2B5EF4-FFF2-40B4-BE49-F238E27FC236}">
                    <a16:creationId xmlns:a16="http://schemas.microsoft.com/office/drawing/2014/main" id="{EC616423-53DA-11FC-BF10-831921D39128}"/>
                  </a:ext>
                </a:extLst>
              </p:cNvPr>
              <p:cNvSpPr/>
              <p:nvPr/>
            </p:nvSpPr>
            <p:spPr>
              <a:xfrm>
                <a:off x="6439473" y="8082806"/>
                <a:ext cx="88992" cy="88992"/>
              </a:xfrm>
              <a:custGeom>
                <a:avLst/>
                <a:gdLst>
                  <a:gd name="connsiteX0" fmla="*/ 88992 w 88992"/>
                  <a:gd name="connsiteY0" fmla="*/ 44496 h 88992"/>
                  <a:gd name="connsiteX1" fmla="*/ 44496 w 88992"/>
                  <a:gd name="connsiteY1" fmla="*/ 88992 h 88992"/>
                  <a:gd name="connsiteX2" fmla="*/ 0 w 88992"/>
                  <a:gd name="connsiteY2" fmla="*/ 44496 h 88992"/>
                  <a:gd name="connsiteX3" fmla="*/ 44496 w 88992"/>
                  <a:gd name="connsiteY3" fmla="*/ 0 h 88992"/>
                  <a:gd name="connsiteX4" fmla="*/ 88992 w 88992"/>
                  <a:gd name="connsiteY4" fmla="*/ 44496 h 88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992" h="88992">
                    <a:moveTo>
                      <a:pt x="88992" y="44496"/>
                    </a:moveTo>
                    <a:cubicBezTo>
                      <a:pt x="88992" y="68164"/>
                      <a:pt x="68164" y="88992"/>
                      <a:pt x="44496" y="88992"/>
                    </a:cubicBezTo>
                    <a:cubicBezTo>
                      <a:pt x="20828" y="88992"/>
                      <a:pt x="0" y="68164"/>
                      <a:pt x="0" y="44496"/>
                    </a:cubicBezTo>
                    <a:cubicBezTo>
                      <a:pt x="0" y="20828"/>
                      <a:pt x="20828" y="0"/>
                      <a:pt x="44496" y="0"/>
                    </a:cubicBezTo>
                    <a:cubicBezTo>
                      <a:pt x="71005" y="0"/>
                      <a:pt x="88992" y="20828"/>
                      <a:pt x="88992" y="44496"/>
                    </a:cubicBezTo>
                  </a:path>
                </a:pathLst>
              </a:custGeom>
              <a:grpFill/>
              <a:ln w="9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Freeform 261">
                <a:extLst>
                  <a:ext uri="{FF2B5EF4-FFF2-40B4-BE49-F238E27FC236}">
                    <a16:creationId xmlns:a16="http://schemas.microsoft.com/office/drawing/2014/main" id="{BE94DA23-E4CB-14BC-0BE9-E83867EEB369}"/>
                  </a:ext>
                </a:extLst>
              </p:cNvPr>
              <p:cNvSpPr/>
              <p:nvPr/>
            </p:nvSpPr>
            <p:spPr>
              <a:xfrm>
                <a:off x="6849406" y="8082806"/>
                <a:ext cx="88992" cy="88992"/>
              </a:xfrm>
              <a:custGeom>
                <a:avLst/>
                <a:gdLst>
                  <a:gd name="connsiteX0" fmla="*/ 88992 w 88992"/>
                  <a:gd name="connsiteY0" fmla="*/ 44496 h 88992"/>
                  <a:gd name="connsiteX1" fmla="*/ 44496 w 88992"/>
                  <a:gd name="connsiteY1" fmla="*/ 88992 h 88992"/>
                  <a:gd name="connsiteX2" fmla="*/ 0 w 88992"/>
                  <a:gd name="connsiteY2" fmla="*/ 44496 h 88992"/>
                  <a:gd name="connsiteX3" fmla="*/ 44496 w 88992"/>
                  <a:gd name="connsiteY3" fmla="*/ 0 h 88992"/>
                  <a:gd name="connsiteX4" fmla="*/ 88992 w 88992"/>
                  <a:gd name="connsiteY4" fmla="*/ 44496 h 88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992" h="88992">
                    <a:moveTo>
                      <a:pt x="88992" y="44496"/>
                    </a:moveTo>
                    <a:cubicBezTo>
                      <a:pt x="88992" y="68164"/>
                      <a:pt x="68164" y="88992"/>
                      <a:pt x="44496" y="88992"/>
                    </a:cubicBezTo>
                    <a:cubicBezTo>
                      <a:pt x="20828" y="88992"/>
                      <a:pt x="0" y="68164"/>
                      <a:pt x="0" y="44496"/>
                    </a:cubicBezTo>
                    <a:cubicBezTo>
                      <a:pt x="0" y="20828"/>
                      <a:pt x="20828" y="0"/>
                      <a:pt x="44496" y="0"/>
                    </a:cubicBezTo>
                    <a:cubicBezTo>
                      <a:pt x="71005" y="0"/>
                      <a:pt x="88992" y="20828"/>
                      <a:pt x="88992" y="44496"/>
                    </a:cubicBezTo>
                  </a:path>
                </a:pathLst>
              </a:custGeom>
              <a:grpFill/>
              <a:ln w="9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Freeform 262">
                <a:extLst>
                  <a:ext uri="{FF2B5EF4-FFF2-40B4-BE49-F238E27FC236}">
                    <a16:creationId xmlns:a16="http://schemas.microsoft.com/office/drawing/2014/main" id="{7EEA5B7E-3492-0E26-8D20-31FD4920A105}"/>
                  </a:ext>
                </a:extLst>
              </p:cNvPr>
              <p:cNvSpPr/>
              <p:nvPr/>
            </p:nvSpPr>
            <p:spPr>
              <a:xfrm>
                <a:off x="6645860" y="8082806"/>
                <a:ext cx="88992" cy="88992"/>
              </a:xfrm>
              <a:custGeom>
                <a:avLst/>
                <a:gdLst>
                  <a:gd name="connsiteX0" fmla="*/ 88992 w 88992"/>
                  <a:gd name="connsiteY0" fmla="*/ 44496 h 88992"/>
                  <a:gd name="connsiteX1" fmla="*/ 44496 w 88992"/>
                  <a:gd name="connsiteY1" fmla="*/ 88992 h 88992"/>
                  <a:gd name="connsiteX2" fmla="*/ 0 w 88992"/>
                  <a:gd name="connsiteY2" fmla="*/ 44496 h 88992"/>
                  <a:gd name="connsiteX3" fmla="*/ 44496 w 88992"/>
                  <a:gd name="connsiteY3" fmla="*/ 0 h 88992"/>
                  <a:gd name="connsiteX4" fmla="*/ 88992 w 88992"/>
                  <a:gd name="connsiteY4" fmla="*/ 44496 h 88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992" h="88992">
                    <a:moveTo>
                      <a:pt x="88992" y="44496"/>
                    </a:moveTo>
                    <a:cubicBezTo>
                      <a:pt x="88992" y="68164"/>
                      <a:pt x="68164" y="88992"/>
                      <a:pt x="44496" y="88992"/>
                    </a:cubicBezTo>
                    <a:cubicBezTo>
                      <a:pt x="20828" y="88992"/>
                      <a:pt x="0" y="68164"/>
                      <a:pt x="0" y="44496"/>
                    </a:cubicBezTo>
                    <a:cubicBezTo>
                      <a:pt x="0" y="20828"/>
                      <a:pt x="20828" y="0"/>
                      <a:pt x="44496" y="0"/>
                    </a:cubicBezTo>
                    <a:cubicBezTo>
                      <a:pt x="68164" y="0"/>
                      <a:pt x="88992" y="20828"/>
                      <a:pt x="88992" y="44496"/>
                    </a:cubicBezTo>
                  </a:path>
                </a:pathLst>
              </a:custGeom>
              <a:grpFill/>
              <a:ln w="9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B38CAD8-B656-4B20-876C-7BE6867DF701}"/>
              </a:ext>
            </a:extLst>
          </p:cNvPr>
          <p:cNvSpPr>
            <a:spLocks/>
          </p:cNvSpPr>
          <p:nvPr/>
        </p:nvSpPr>
        <p:spPr>
          <a:xfrm>
            <a:off x="6048000" y="1008000"/>
            <a:ext cx="5400000" cy="216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C83C75-F080-7F2C-CC27-94A5BF1A94ED}"/>
              </a:ext>
            </a:extLst>
          </p:cNvPr>
          <p:cNvSpPr>
            <a:spLocks/>
          </p:cNvSpPr>
          <p:nvPr/>
        </p:nvSpPr>
        <p:spPr>
          <a:xfrm>
            <a:off x="6048000" y="3168000"/>
            <a:ext cx="5400000" cy="270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637C6CAE-6123-528C-845D-5DD0921E3125}"/>
              </a:ext>
            </a:extLst>
          </p:cNvPr>
          <p:cNvSpPr>
            <a:spLocks noGrp="1"/>
          </p:cNvSpPr>
          <p:nvPr/>
        </p:nvSpPr>
        <p:spPr>
          <a:xfrm>
            <a:off x="756000" y="1116000"/>
            <a:ext cx="5184000" cy="1944000"/>
          </a:xfrm>
          <a:prstGeom prst="rect">
            <a:avLst/>
          </a:prstGeom>
        </p:spPr>
        <p:txBody>
          <a:bodyPr anchor="t"/>
          <a:lstStyle>
            <a:lvl1pPr marL="0" indent="0" algn="l" defTabSz="1523848" rtl="0" eaLnBrk="1" latinLnBrk="0" hangingPunct="1">
              <a:lnSpc>
                <a:spcPct val="90000"/>
              </a:lnSpc>
              <a:spcBef>
                <a:spcPts val="1667"/>
              </a:spcBef>
              <a:buFont typeface="Arial" panose="020B0604020202020204" pitchFamily="34" charset="0"/>
              <a:buNone/>
              <a:defRPr sz="54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61924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3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848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5771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695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09619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71543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33467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95390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5238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Data Analysis Support Hub</a:t>
            </a:r>
          </a:p>
          <a:p>
            <a:pPr marL="0" marR="0" lvl="0" indent="0" algn="l" defTabSz="1523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</a:rPr>
              <a:t>March 4: </a:t>
            </a:r>
            <a:r>
              <a:rPr lang="en-US" sz="1600" dirty="0">
                <a:solidFill>
                  <a:srgbClr val="FFFFFF"/>
                </a:solidFill>
                <a:latin typeface="Aptos" panose="020B0004020202020204" pitchFamily="34" charset="0"/>
              </a:rPr>
              <a:t>Designing Complex Surveys with REDCap</a:t>
            </a:r>
          </a:p>
          <a:p>
            <a:pPr marL="0" marR="0" lvl="0" indent="0" algn="l" defTabSz="1523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</a:rPr>
              <a:t>March 10: </a:t>
            </a:r>
            <a:r>
              <a:rPr lang="en-US" sz="1600" dirty="0">
                <a:solidFill>
                  <a:srgbClr val="FFFFFF"/>
                </a:solidFill>
                <a:latin typeface="Aptos" panose="020B0004020202020204" pitchFamily="34" charset="0"/>
              </a:rPr>
              <a:t>Create an Interactive Dashboard using ArcGIS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C7203117-914A-8CDD-A74D-558F529844AA}"/>
              </a:ext>
            </a:extLst>
          </p:cNvPr>
          <p:cNvSpPr>
            <a:spLocks noGrp="1"/>
          </p:cNvSpPr>
          <p:nvPr/>
        </p:nvSpPr>
        <p:spPr>
          <a:xfrm>
            <a:off x="6155999" y="3276000"/>
            <a:ext cx="5184000" cy="864000"/>
          </a:xfrm>
          <a:prstGeom prst="rect">
            <a:avLst/>
          </a:prstGeom>
        </p:spPr>
        <p:txBody>
          <a:bodyPr anchor="t"/>
          <a:lstStyle>
            <a:lvl1pPr marL="0" indent="0" algn="l" defTabSz="1523848" rtl="0" eaLnBrk="1" latinLnBrk="0" hangingPunct="1">
              <a:lnSpc>
                <a:spcPct val="90000"/>
              </a:lnSpc>
              <a:spcBef>
                <a:spcPts val="1667"/>
              </a:spcBef>
              <a:buFont typeface="Arial" panose="020B0604020202020204" pitchFamily="34" charset="0"/>
              <a:buNone/>
              <a:defRPr sz="54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61924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3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848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5771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695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09619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71543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33467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95390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523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Do More with Digital Scholarship</a:t>
            </a:r>
          </a:p>
          <a:p>
            <a:pPr marL="0" marR="0" lvl="0" indent="0" algn="l" defTabSz="1523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600" b="1" dirty="0">
                <a:solidFill>
                  <a:srgbClr val="FFFFFF"/>
                </a:solidFill>
                <a:latin typeface="Aptos" panose="020B0004020202020204" pitchFamily="34" charset="0"/>
              </a:rPr>
              <a:t>February 25: </a:t>
            </a:r>
            <a:r>
              <a:rPr lang="en-US" sz="1600" dirty="0">
                <a:solidFill>
                  <a:srgbClr val="FFFFFF"/>
                </a:solidFill>
                <a:latin typeface="Aptos" panose="020B0004020202020204" pitchFamily="34" charset="0"/>
              </a:rPr>
              <a:t>Build Your Own Chatbot: Local Applications in Generative AI on your Laptop</a:t>
            </a:r>
            <a:endParaRPr kumimoji="0" lang="en-GB" sz="16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l" defTabSz="1523848" rtl="0" eaLnBrk="1" fontAlgn="auto" latinLnBrk="0" hangingPunct="1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B667C35B-1D21-0B6A-E923-E457990BD376}"/>
              </a:ext>
            </a:extLst>
          </p:cNvPr>
          <p:cNvSpPr>
            <a:spLocks noGrp="1"/>
          </p:cNvSpPr>
          <p:nvPr/>
        </p:nvSpPr>
        <p:spPr>
          <a:xfrm>
            <a:off x="756000" y="3276000"/>
            <a:ext cx="5184000" cy="2484000"/>
          </a:xfrm>
          <a:prstGeom prst="rect">
            <a:avLst/>
          </a:prstGeom>
        </p:spPr>
        <p:txBody>
          <a:bodyPr anchor="t"/>
          <a:lstStyle>
            <a:lvl1pPr marL="0" indent="0" algn="l" defTabSz="1523848" rtl="0" eaLnBrk="1" latinLnBrk="0" hangingPunct="1">
              <a:lnSpc>
                <a:spcPct val="90000"/>
              </a:lnSpc>
              <a:spcBef>
                <a:spcPts val="1667"/>
              </a:spcBef>
              <a:buFont typeface="Arial" panose="020B0604020202020204" pitchFamily="34" charset="0"/>
              <a:buNone/>
              <a:defRPr sz="54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61924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3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848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5771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695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09619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71543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33467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95390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5238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F0F0F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Research Data Management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0F0F0F">
                  <a:lumMod val="90000"/>
                  <a:lumOff val="10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l" defTabSz="15238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F0F0F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February 19: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F0F0F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Communities Empowered by Data 101: Tools and Best Practices</a:t>
            </a:r>
          </a:p>
          <a:p>
            <a:pPr marL="0" marR="0" lvl="0" indent="0" algn="l" defTabSz="15238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F0F0F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May 12: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F0F0F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Data Management Plan Bootcamp (In-Person)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l" defTabSz="1523848" rtl="0" eaLnBrk="1" fontAlgn="auto" latinLnBrk="0" hangingPunct="1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DE54162C-D835-1D83-0A53-F76F26104D2E}"/>
              </a:ext>
            </a:extLst>
          </p:cNvPr>
          <p:cNvSpPr>
            <a:spLocks noGrp="1"/>
          </p:cNvSpPr>
          <p:nvPr/>
        </p:nvSpPr>
        <p:spPr>
          <a:xfrm>
            <a:off x="6156000" y="1116000"/>
            <a:ext cx="5184000" cy="1944000"/>
          </a:xfrm>
          <a:prstGeom prst="rect">
            <a:avLst/>
          </a:prstGeom>
        </p:spPr>
        <p:txBody>
          <a:bodyPr anchor="t"/>
          <a:lstStyle>
            <a:lvl1pPr marL="0" indent="0" algn="l" defTabSz="1523848" rtl="0" eaLnBrk="1" latinLnBrk="0" hangingPunct="1">
              <a:lnSpc>
                <a:spcPct val="90000"/>
              </a:lnSpc>
              <a:spcBef>
                <a:spcPts val="1667"/>
              </a:spcBef>
              <a:buFont typeface="Arial" panose="020B0604020202020204" pitchFamily="34" charset="0"/>
              <a:buNone/>
              <a:defRPr sz="54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61924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3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848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5771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695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09619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71543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33467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95390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523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F0F0F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Digital Research</a:t>
            </a:r>
          </a:p>
          <a:p>
            <a:pPr marL="0" marR="0" lvl="0" indent="0" algn="l" defTabSz="1523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1" dirty="0">
                <a:solidFill>
                  <a:srgbClr val="0F0F0F">
                    <a:lumMod val="90000"/>
                    <a:lumOff val="10000"/>
                  </a:srgbClr>
                </a:solidFill>
                <a:latin typeface="Aptos" panose="020B0004020202020204" pitchFamily="34" charset="0"/>
              </a:rPr>
              <a:t>February 26: </a:t>
            </a:r>
            <a:r>
              <a:rPr lang="en-US" sz="1600" dirty="0">
                <a:solidFill>
                  <a:srgbClr val="0F0F0F">
                    <a:lumMod val="90000"/>
                    <a:lumOff val="10000"/>
                  </a:srgbClr>
                </a:solidFill>
                <a:latin typeface="Aptos" panose="020B0004020202020204" pitchFamily="34" charset="0"/>
              </a:rPr>
              <a:t>Scholarly Podcasting: Voices, Stories, &amp; Strategies</a:t>
            </a:r>
          </a:p>
        </p:txBody>
      </p:sp>
      <p:pic>
        <p:nvPicPr>
          <p:cNvPr id="4" name="Picture 3" descr="A qr code with dots&#10;&#10;AI-generated content may be incorrect.">
            <a:extLst>
              <a:ext uri="{FF2B5EF4-FFF2-40B4-BE49-F238E27FC236}">
                <a16:creationId xmlns:a16="http://schemas.microsoft.com/office/drawing/2014/main" id="{ACA00E3F-4175-AAD1-3B0A-EB1F6D1DD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4000" y="4410000"/>
            <a:ext cx="2448000" cy="2448000"/>
          </a:xfrm>
          <a:prstGeom prst="rect">
            <a:avLst/>
          </a:prstGeom>
        </p:spPr>
      </p:pic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A6970D4-39BD-A08B-4721-12E8B674F26B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7840718" y="5569002"/>
            <a:ext cx="1880797" cy="7574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7061F0D-3372-55B0-9F70-9A90B684500F}"/>
              </a:ext>
            </a:extLst>
          </p:cNvPr>
          <p:cNvSpPr txBox="1"/>
          <p:nvPr/>
        </p:nvSpPr>
        <p:spPr>
          <a:xfrm>
            <a:off x="6156000" y="4140000"/>
            <a:ext cx="3456000" cy="16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FFFFFF"/>
                </a:solidFill>
                <a:latin typeface="Aptos" panose="020B0004020202020204" pitchFamily="34" charset="0"/>
              </a:rPr>
              <a:t>March 19: </a:t>
            </a:r>
            <a:r>
              <a:rPr lang="en-US" sz="1600" dirty="0">
                <a:solidFill>
                  <a:srgbClr val="FFFFFF"/>
                </a:solidFill>
                <a:latin typeface="Aptos" panose="020B0004020202020204" pitchFamily="34" charset="0"/>
              </a:rPr>
              <a:t>Social Media Data! Practical and Ethical Collection, Visualization, and Management</a:t>
            </a:r>
            <a:r>
              <a:rPr lang="en-GB" sz="1600" dirty="0">
                <a:solidFill>
                  <a:srgbClr val="FFFFFF"/>
                </a:solidFill>
                <a:latin typeface="Aptos" panose="020B0004020202020204" pitchFamily="34" charset="0"/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404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842da2a-29f9-46a8-95a1-1e7813d5f154" xsi:nil="true"/>
    <lcf76f155ced4ddcb4097134ff3c332f xmlns="4a227d49-acc8-45f3-a49c-e562db478c0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A65B0DBE43454895854D799AB134BE" ma:contentTypeVersion="19" ma:contentTypeDescription="Create a new document." ma:contentTypeScope="" ma:versionID="ff9e91d0820aac88d42ad99e06ebf2e6">
  <xsd:schema xmlns:xsd="http://www.w3.org/2001/XMLSchema" xmlns:xs="http://www.w3.org/2001/XMLSchema" xmlns:p="http://schemas.microsoft.com/office/2006/metadata/properties" xmlns:ns2="4a227d49-acc8-45f3-a49c-e562db478c04" xmlns:ns3="4842da2a-29f9-46a8-95a1-1e7813d5f154" targetNamespace="http://schemas.microsoft.com/office/2006/metadata/properties" ma:root="true" ma:fieldsID="78e58302035cad1d00d1aa5382bbf63a" ns2:_="" ns3:_="">
    <xsd:import namespace="4a227d49-acc8-45f3-a49c-e562db478c04"/>
    <xsd:import namespace="4842da2a-29f9-46a8-95a1-1e7813d5f1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227d49-acc8-45f3-a49c-e562db478c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073764d-e844-48d8-8cbc-d63b9d9528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2da2a-29f9-46a8-95a1-1e7813d5f15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309134a-b8e6-40e2-8eb9-172ebc66cdd7}" ma:internalName="TaxCatchAll" ma:showField="CatchAllData" ma:web="4842da2a-29f9-46a8-95a1-1e7813d5f1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58A332-C0D4-443B-915A-DCC3855EC4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4EDDCBC-432D-4F53-A678-E7EFA4AE544A}">
  <ds:schemaRefs>
    <ds:schemaRef ds:uri="http://schemas.microsoft.com/office/2006/metadata/properties"/>
    <ds:schemaRef ds:uri="http://schemas.microsoft.com/office/infopath/2007/PartnerControls"/>
    <ds:schemaRef ds:uri="4842da2a-29f9-46a8-95a1-1e7813d5f154"/>
    <ds:schemaRef ds:uri="4a227d49-acc8-45f3-a49c-e562db478c04"/>
  </ds:schemaRefs>
</ds:datastoreItem>
</file>

<file path=customXml/itemProps3.xml><?xml version="1.0" encoding="utf-8"?>
<ds:datastoreItem xmlns:ds="http://schemas.openxmlformats.org/officeDocument/2006/customXml" ds:itemID="{13D578E2-0CA6-4BDA-969F-95112AF5D6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227d49-acc8-45f3-a49c-e562db478c04"/>
    <ds:schemaRef ds:uri="4842da2a-29f9-46a8-95a1-1e7813d5f1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118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 Pratt</dc:creator>
  <cp:lastModifiedBy>Isaac  Pratt</cp:lastModifiedBy>
  <cp:revision>3</cp:revision>
  <dcterms:created xsi:type="dcterms:W3CDTF">2026-03-10T15:07:37Z</dcterms:created>
  <dcterms:modified xsi:type="dcterms:W3CDTF">2026-08-24T17:55:47Z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0x01010004A65B0DBE43454895854D799AB134BE</vt:lpwstr>
  </property>
  <property fmtid="{D5CDD505-2E9C-101B-9397-08002B2CF9AE}" pid="3" name="MediaServiceImageTags">
    <vt:lpwstr/>
  </property>
</Properties>
</file>